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012: Debugging and Troubleshooting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Learn how to debug PL/SQL programs effectively</a:t>
            </a:r>
          </a:p>
          <a:p>
            <a:pPr marL="0" indent="0">
              <a:buNone/>
            </a:pPr>
            <a:r>
              <a:rPr dirty="0"/>
              <a:t>- Understand error types and message formats</a:t>
            </a:r>
          </a:p>
          <a:p>
            <a:pPr marL="0" indent="0">
              <a:buNone/>
            </a:pPr>
            <a:r>
              <a:rPr dirty="0"/>
              <a:t>- Use DBMS_OUTPUT and SQL Developer tools</a:t>
            </a:r>
          </a:p>
          <a:p>
            <a:pPr marL="0" indent="0">
              <a:buNone/>
            </a:pPr>
            <a:r>
              <a:rPr dirty="0"/>
              <a:t>- Implement EXCEPTION sections for controlled handling</a:t>
            </a:r>
          </a:p>
          <a:p>
            <a:pPr marL="0" indent="0">
              <a:buNone/>
            </a:pPr>
            <a:r>
              <a:rPr dirty="0"/>
              <a:t>- (Optional) Explore AI-assisted error explanation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Error Types in PL/SQL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Syntax Errors – Detected at compile-time</a:t>
            </a:r>
          </a:p>
          <a:p>
            <a:pPr marL="0" indent="0">
              <a:buNone/>
            </a:pPr>
            <a:r>
              <a:rPr dirty="0"/>
              <a:t>• Runtime Errors – Occur during execution</a:t>
            </a:r>
          </a:p>
          <a:p>
            <a:pPr marL="0" indent="0">
              <a:buNone/>
            </a:pPr>
            <a:r>
              <a:rPr dirty="0"/>
              <a:t>• Logical Errors – Wrong results due to logic flaws</a:t>
            </a:r>
          </a:p>
          <a:p>
            <a:pPr marL="0" indent="0">
              <a:buNone/>
            </a:pPr>
            <a:r>
              <a:rPr dirty="0"/>
              <a:t>• Constraint Violations – Violating NOT NULL, PK, FK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Debugging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Enable SERVEROUTPUT in SQL*Plus or SQL Developer</a:t>
            </a:r>
          </a:p>
          <a:p>
            <a:pPr marL="0" indent="0">
              <a:buNone/>
            </a:pPr>
            <a:r>
              <a:rPr dirty="0"/>
              <a:t>2. Use DBMS_OUTPUT.PUT_LINE for tracing variable values</a:t>
            </a:r>
          </a:p>
          <a:p>
            <a:pPr marL="0" indent="0">
              <a:buNone/>
            </a:pPr>
            <a:r>
              <a:rPr dirty="0"/>
              <a:t>3. Add exception handling to isolate failing logic</a:t>
            </a:r>
          </a:p>
          <a:p>
            <a:pPr marL="0" indent="0">
              <a:buNone/>
            </a:pPr>
            <a:r>
              <a:rPr dirty="0"/>
              <a:t>4. Use RAISE_APPLICATION_ERROR for custom messages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SQL Developer Debugger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Set breakpoints in procedures or functions</a:t>
            </a:r>
          </a:p>
          <a:p>
            <a:pPr marL="0" indent="0">
              <a:buNone/>
            </a:pPr>
            <a:r>
              <a:rPr dirty="0"/>
              <a:t>• Step through code line-by-line</a:t>
            </a:r>
          </a:p>
          <a:p>
            <a:pPr marL="0" indent="0">
              <a:buNone/>
            </a:pPr>
            <a:r>
              <a:rPr dirty="0"/>
              <a:t>• Watch variable values in runtime</a:t>
            </a:r>
          </a:p>
          <a:p>
            <a:pPr marL="0" indent="0">
              <a:buNone/>
            </a:pPr>
            <a:r>
              <a:rPr dirty="0"/>
              <a:t>• Resume or step into nested calls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DBMS_OUTPUT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DBMS_OUTPUT.PUT_LINE('Variable x = ' || x);</a:t>
            </a:r>
          </a:p>
          <a:p>
            <a:pPr marL="0" indent="0">
              <a:buNone/>
            </a:pPr>
            <a:r>
              <a:rPr dirty="0"/>
              <a:t>DBMS_OUTPUT.PUT_LINE('Execution reached step 3');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Helps trace control flow and variable state at runtime.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74638"/>
            <a:ext cx="8385048" cy="639762"/>
          </a:xfrm>
        </p:spPr>
        <p:txBody>
          <a:bodyPr>
            <a:normAutofit fontScale="90000"/>
          </a:bodyPr>
          <a:lstStyle/>
          <a:p>
            <a:r>
              <a:rPr dirty="0"/>
              <a:t>Exception Handling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BEGIN</a:t>
            </a:r>
          </a:p>
          <a:p>
            <a:pPr marL="0" indent="0">
              <a:buNone/>
            </a:pPr>
            <a:r>
              <a:rPr sz="2000" dirty="0"/>
              <a:t>  -- Main logic</a:t>
            </a:r>
          </a:p>
          <a:p>
            <a:pPr marL="0" indent="0">
              <a:buNone/>
            </a:pPr>
            <a:r>
              <a:rPr sz="2000" dirty="0"/>
              <a:t>EXCEPTION</a:t>
            </a:r>
          </a:p>
          <a:p>
            <a:pPr marL="0" indent="0">
              <a:buNone/>
            </a:pPr>
            <a:r>
              <a:rPr sz="2000" dirty="0"/>
              <a:t>  WHEN ZERO_DIVIDE THEN</a:t>
            </a:r>
          </a:p>
          <a:p>
            <a:pPr marL="0" indent="0">
              <a:buNone/>
            </a:pPr>
            <a:r>
              <a:rPr sz="2000" dirty="0"/>
              <a:t>    DBMS_OUTPUT.PUT_LINE('Cannot divide by zero');</a:t>
            </a:r>
          </a:p>
          <a:p>
            <a:pPr marL="0" indent="0">
              <a:buNone/>
            </a:pPr>
            <a:r>
              <a:rPr sz="2000" dirty="0"/>
              <a:t>  WHEN OTHERS THEN</a:t>
            </a:r>
          </a:p>
          <a:p>
            <a:pPr marL="0" indent="0">
              <a:buNone/>
            </a:pPr>
            <a:r>
              <a:rPr sz="2000" dirty="0"/>
              <a:t>    DBMS_OUTPUT.PUT_LINE('Unexpected error: ' || SQLERRM);</a:t>
            </a:r>
          </a:p>
          <a:p>
            <a:pPr marL="0" indent="0">
              <a:buNone/>
            </a:pPr>
            <a:r>
              <a:rPr sz="2000" dirty="0"/>
              <a:t>END;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Debugging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Reproduce the issue consistently</a:t>
            </a:r>
          </a:p>
          <a:p>
            <a:pPr marL="0" indent="0">
              <a:buNone/>
            </a:pPr>
            <a:r>
              <a:rPr dirty="0"/>
              <a:t>• Isolate affected block or procedure</a:t>
            </a:r>
          </a:p>
          <a:p>
            <a:pPr marL="0" indent="0">
              <a:buNone/>
            </a:pPr>
            <a:r>
              <a:rPr dirty="0"/>
              <a:t>• Add controlled outputs for diagnostics</a:t>
            </a:r>
          </a:p>
          <a:p>
            <a:pPr marL="0" indent="0">
              <a:buNone/>
            </a:pPr>
            <a:r>
              <a:rPr dirty="0"/>
              <a:t>• Fix and retest iteratively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AI-Assisted 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AI tools like Copilot or ChatGPT can:</a:t>
            </a:r>
          </a:p>
          <a:p>
            <a:pPr marL="0" indent="0">
              <a:buNone/>
            </a:pPr>
            <a:r>
              <a:rPr dirty="0"/>
              <a:t>- Suggest fixes for common PL/SQL errors</a:t>
            </a:r>
          </a:p>
          <a:p>
            <a:pPr marL="0" indent="0">
              <a:buNone/>
            </a:pPr>
            <a:r>
              <a:rPr dirty="0"/>
              <a:t>- Explain ORA error codes in plain English</a:t>
            </a:r>
          </a:p>
          <a:p>
            <a:pPr marL="0" indent="0">
              <a:buNone/>
            </a:pPr>
            <a:r>
              <a:rPr dirty="0"/>
              <a:t>- Recommend exception handling best practices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Debugging improves reliability and understanding</a:t>
            </a:r>
          </a:p>
          <a:p>
            <a:pPr marL="0" indent="0">
              <a:buNone/>
            </a:pPr>
            <a:r>
              <a:rPr dirty="0"/>
              <a:t>• Use DBMS_OUTPUT, EXCEPTION, and debugger tools</a:t>
            </a:r>
          </a:p>
          <a:p>
            <a:pPr marL="0" indent="0">
              <a:buNone/>
            </a:pPr>
            <a:r>
              <a:rPr dirty="0"/>
              <a:t>• Always handle expected and unexpected errors</a:t>
            </a:r>
          </a:p>
          <a:p>
            <a:pPr marL="0" indent="0">
              <a:buNone/>
            </a:pPr>
            <a:r>
              <a:rPr dirty="0"/>
              <a:t>Next: Conditional Branching Fundamentals (Session 020).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365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Session 012: Debugging and Troubleshooting Basics</vt:lpstr>
      <vt:lpstr>Session Objectives</vt:lpstr>
      <vt:lpstr>Common Error Types in PL/SQL</vt:lpstr>
      <vt:lpstr>Basic Debugging Techniques</vt:lpstr>
      <vt:lpstr>Using SQL Developer Debugger</vt:lpstr>
      <vt:lpstr>DBMS_OUTPUT in Practice</vt:lpstr>
      <vt:lpstr>Exception Handling Framework</vt:lpstr>
      <vt:lpstr>Real-World Debugging Steps</vt:lpstr>
      <vt:lpstr>Optional: AI-Assisted Debugging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3</cp:revision>
  <dcterms:created xsi:type="dcterms:W3CDTF">2013-01-27T09:14:16Z</dcterms:created>
  <dcterms:modified xsi:type="dcterms:W3CDTF">2025-11-06T03:07:19Z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aed0b32-58fd-49a1-925b-0e19a34645b1_Enabled">
    <vt:lpwstr>true</vt:lpwstr>
  </property>
  <property fmtid="{D5CDD505-2E9C-101B-9397-08002B2CF9AE}" pid="3" name="MSIP_Label_0aed0b32-58fd-49a1-925b-0e19a34645b1_SetDate">
    <vt:lpwstr>2025-11-06T03:05:45Z</vt:lpwstr>
  </property>
  <property fmtid="{D5CDD505-2E9C-101B-9397-08002B2CF9AE}" pid="4" name="MSIP_Label_0aed0b32-58fd-49a1-925b-0e19a34645b1_Method">
    <vt:lpwstr>Privileged</vt:lpwstr>
  </property>
  <property fmtid="{D5CDD505-2E9C-101B-9397-08002B2CF9AE}" pid="5" name="MSIP_Label_0aed0b32-58fd-49a1-925b-0e19a34645b1_Name">
    <vt:lpwstr>Personal</vt:lpwstr>
  </property>
  <property fmtid="{D5CDD505-2E9C-101B-9397-08002B2CF9AE}" pid="6" name="MSIP_Label_0aed0b32-58fd-49a1-925b-0e19a34645b1_SiteId">
    <vt:lpwstr>97984c2b-a229-4609-8185-ae84947bc3fc</vt:lpwstr>
  </property>
  <property fmtid="{D5CDD505-2E9C-101B-9397-08002B2CF9AE}" pid="7" name="MSIP_Label_0aed0b32-58fd-49a1-925b-0e19a34645b1_ActionId">
    <vt:lpwstr>14ce7541-a3e8-4db7-a82e-8ed496017466</vt:lpwstr>
  </property>
  <property fmtid="{D5CDD505-2E9C-101B-9397-08002B2CF9AE}" pid="8" name="MSIP_Label_0aed0b32-58fd-49a1-925b-0e19a34645b1_ContentBits">
    <vt:lpwstr>0</vt:lpwstr>
  </property>
  <property fmtid="{D5CDD505-2E9C-101B-9397-08002B2CF9AE}" pid="9" name="MSIP_Label_0aed0b32-58fd-49a1-925b-0e19a34645b1_Tag">
    <vt:lpwstr>10, 0, 1, 1</vt:lpwstr>
  </property>
</Properties>
</file>