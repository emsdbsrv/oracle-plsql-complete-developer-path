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0" d="100"/>
          <a:sy n="70" d="100"/>
        </p:scale>
        <p:origin x="1180" y="5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11/9/2025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11/9/2025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11/9/2025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11/9/2025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Session 051: User-Defined Error Codes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Robust Error Management in Oracle PL/SQL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User-Defined Error Codes?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• Express domain intent, not engine internals</a:t>
            </a:r>
          </a:p>
          <a:p>
            <a:pPr marL="0" indent="0">
              <a:buNone/>
            </a:pPr>
            <a:r>
              <a:rPr dirty="0"/>
              <a:t>• Decouple UI/API from Oracle ORA-</a:t>
            </a:r>
            <a:r>
              <a:rPr dirty="0" err="1"/>
              <a:t>xxxxx</a:t>
            </a:r>
            <a:r>
              <a:rPr dirty="0"/>
              <a:t> codes</a:t>
            </a:r>
          </a:p>
          <a:p>
            <a:pPr marL="0" indent="0">
              <a:buNone/>
            </a:pPr>
            <a:r>
              <a:rPr dirty="0"/>
              <a:t>• Enable consistent error handling across modules</a:t>
            </a:r>
          </a:p>
          <a:p>
            <a:pPr marL="0" indent="0">
              <a:buNone/>
            </a:pPr>
            <a:r>
              <a:rPr dirty="0"/>
              <a:t>• Preserve original cause with context; re-raise or translate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Two Approaches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• RAISE a named exception (no code by default)</a:t>
            </a:r>
          </a:p>
          <a:p>
            <a:pPr marL="0" indent="0">
              <a:buNone/>
            </a:pPr>
            <a:r>
              <a:rPr dirty="0"/>
              <a:t>• RAISE_APPLICATION_ERROR(-20xxx, message) to return a specific code</a:t>
            </a:r>
          </a:p>
          <a:p>
            <a:pPr marL="0" indent="0">
              <a:buNone/>
            </a:pPr>
            <a:r>
              <a:rPr dirty="0"/>
              <a:t>• Prefer -20xxx range for application codes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Centralize in a Package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• Package constants for -20xxx codes</a:t>
            </a:r>
          </a:p>
          <a:p>
            <a:pPr marL="0" indent="0">
              <a:buNone/>
            </a:pPr>
            <a:r>
              <a:rPr dirty="0"/>
              <a:t>• Single place to document messages and mapping</a:t>
            </a:r>
          </a:p>
          <a:p>
            <a:pPr marL="0" indent="0">
              <a:buNone/>
            </a:pPr>
            <a:r>
              <a:rPr dirty="0"/>
              <a:t>• Helper procedure to raise with consistent formatting</a:t>
            </a:r>
          </a:p>
          <a:p>
            <a:pPr marL="0" indent="0">
              <a:buNone/>
            </a:pPr>
            <a:r>
              <a:rPr dirty="0"/>
              <a:t>• Optional: logging helpers for SQLCODE/SQLERRM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Best Practices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• Specific handlers first; OTHERS last with diagnostics</a:t>
            </a:r>
          </a:p>
          <a:p>
            <a:pPr marL="0" indent="0">
              <a:buNone/>
            </a:pPr>
            <a:r>
              <a:rPr dirty="0"/>
              <a:t>• Translate engine errors near the boundary; preserve context inside</a:t>
            </a:r>
          </a:p>
          <a:p>
            <a:pPr marL="0" indent="0">
              <a:buNone/>
            </a:pPr>
            <a:r>
              <a:rPr dirty="0"/>
              <a:t>• Include identifiers (keys, parameters) in messages</a:t>
            </a:r>
          </a:p>
          <a:p>
            <a:pPr marL="0" indent="0">
              <a:buNone/>
            </a:pPr>
            <a:r>
              <a:rPr dirty="0"/>
              <a:t>• Avoid swallowing; re-raise when appropriate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165</Words>
  <Application>Microsoft Office PowerPoint</Application>
  <PresentationFormat>On-screen Show (4:3)</PresentationFormat>
  <Paragraphs>21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Session 051: User-Defined Error Codes</vt:lpstr>
      <vt:lpstr>Why User-Defined Error Codes?</vt:lpstr>
      <vt:lpstr>Two Approaches</vt:lpstr>
      <vt:lpstr>Centralize in a Package</vt:lpstr>
      <vt:lpstr>Best Practices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Avishesh Jha</cp:lastModifiedBy>
  <cp:revision>2</cp:revision>
  <dcterms:created xsi:type="dcterms:W3CDTF">2013-01-27T09:14:16Z</dcterms:created>
  <dcterms:modified xsi:type="dcterms:W3CDTF">2025-11-09T06:10:55Z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2ae551e3-0043-40f0-9a67-12d995049d50_Enabled">
    <vt:lpwstr>true</vt:lpwstr>
  </property>
  <property fmtid="{D5CDD505-2E9C-101B-9397-08002B2CF9AE}" pid="3" name="MSIP_Label_2ae551e3-0043-40f0-9a67-12d995049d50_SetDate">
    <vt:lpwstr>2025-11-09T06:10:55Z</vt:lpwstr>
  </property>
  <property fmtid="{D5CDD505-2E9C-101B-9397-08002B2CF9AE}" pid="4" name="MSIP_Label_2ae551e3-0043-40f0-9a67-12d995049d50_Method">
    <vt:lpwstr>Standard</vt:lpwstr>
  </property>
  <property fmtid="{D5CDD505-2E9C-101B-9397-08002B2CF9AE}" pid="5" name="MSIP_Label_2ae551e3-0043-40f0-9a67-12d995049d50_Name">
    <vt:lpwstr>Brillio Confidential</vt:lpwstr>
  </property>
  <property fmtid="{D5CDD505-2E9C-101B-9397-08002B2CF9AE}" pid="6" name="MSIP_Label_2ae551e3-0043-40f0-9a67-12d995049d50_SiteId">
    <vt:lpwstr>97984c2b-a229-4609-8185-ae84947bc3fc</vt:lpwstr>
  </property>
  <property fmtid="{D5CDD505-2E9C-101B-9397-08002B2CF9AE}" pid="7" name="MSIP_Label_2ae551e3-0043-40f0-9a67-12d995049d50_ActionId">
    <vt:lpwstr>74733ca9-dcd0-40de-a44d-f874ed42e96a</vt:lpwstr>
  </property>
  <property fmtid="{D5CDD505-2E9C-101B-9397-08002B2CF9AE}" pid="8" name="MSIP_Label_2ae551e3-0043-40f0-9a67-12d995049d50_ContentBits">
    <vt:lpwstr>0</vt:lpwstr>
  </property>
  <property fmtid="{D5CDD505-2E9C-101B-9397-08002B2CF9AE}" pid="9" name="MSIP_Label_2ae551e3-0043-40f0-9a67-12d995049d50_Tag">
    <vt:lpwstr>10, 3, 0, 1</vt:lpwstr>
  </property>
</Properties>
</file>