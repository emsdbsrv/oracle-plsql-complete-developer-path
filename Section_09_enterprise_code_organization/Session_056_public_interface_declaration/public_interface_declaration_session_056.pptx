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056: Public Interface Declaration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Designing stable package specifications (public contracts) for long‑lived PL/SQL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/>
              <a:t>• Separate public SPEC from private BODY cleanly</a:t>
            </a:r>
          </a:p>
          <a:p>
            <a:pPr marL="0" indent="0">
              <a:buNone/>
            </a:pPr>
            <a:r>
              <a:rPr dirty="0"/>
              <a:t>• Declare constants, types, exceptions, and signatures in SPEC</a:t>
            </a:r>
          </a:p>
          <a:p>
            <a:pPr marL="0" indent="0">
              <a:buNone/>
            </a:pPr>
            <a:r>
              <a:rPr dirty="0"/>
              <a:t>• Keep SPEC stable across versions; evolve BODY freely</a:t>
            </a:r>
          </a:p>
          <a:p>
            <a:pPr marL="0" indent="0">
              <a:buNone/>
            </a:pPr>
            <a:r>
              <a:rPr dirty="0"/>
              <a:t>• Publish diagnostics and versioning via the public interface</a:t>
            </a:r>
          </a:p>
          <a:p>
            <a:pPr marL="0" indent="0">
              <a:buNone/>
            </a:pPr>
            <a:r>
              <a:rPr dirty="0"/>
              <a:t>• Establish error code ranges and immutability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of a Good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Minimal, clear, and self‑documenting</a:t>
            </a:r>
          </a:p>
          <a:p>
            <a:pPr marL="0" indent="0">
              <a:buNone/>
            </a:pPr>
            <a:r>
              <a:rPr dirty="0"/>
              <a:t>• No heavy logic or side effects; only declarations</a:t>
            </a:r>
          </a:p>
          <a:p>
            <a:pPr marL="0" indent="0">
              <a:buNone/>
            </a:pPr>
            <a:r>
              <a:rPr dirty="0"/>
              <a:t>• No public mutable variables; expose getters/setters</a:t>
            </a:r>
          </a:p>
          <a:p>
            <a:pPr marL="0" indent="0">
              <a:buNone/>
            </a:pPr>
            <a:r>
              <a:rPr dirty="0"/>
              <a:t>• Explicit error contracts and named exceptions</a:t>
            </a:r>
          </a:p>
          <a:p>
            <a:pPr marL="0" indent="0">
              <a:buNone/>
            </a:pPr>
            <a:r>
              <a:rPr dirty="0"/>
              <a:t>• Backward compatibility guarantees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Belongs in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Types, subtypes, record/table types used by callers</a:t>
            </a:r>
          </a:p>
          <a:p>
            <a:pPr marL="0" indent="0">
              <a:buNone/>
            </a:pPr>
            <a:r>
              <a:rPr dirty="0"/>
              <a:t>• Constants and enumerations (statuses, codes)</a:t>
            </a:r>
          </a:p>
          <a:p>
            <a:pPr marL="0" indent="0">
              <a:buNone/>
            </a:pPr>
            <a:r>
              <a:rPr dirty="0"/>
              <a:t>• Subprogram signatures (procedure/function contracts)</a:t>
            </a:r>
          </a:p>
          <a:p>
            <a:pPr marL="0" indent="0">
              <a:buNone/>
            </a:pPr>
            <a:r>
              <a:rPr dirty="0"/>
              <a:t>• Public exceptions and error code ranges</a:t>
            </a:r>
          </a:p>
          <a:p>
            <a:pPr marL="0" indent="0">
              <a:buNone/>
            </a:pPr>
            <a:r>
              <a:rPr dirty="0"/>
              <a:t>• Optional: version(), diagnostics()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Stays Out of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Algorithms, queries, cache/state details</a:t>
            </a:r>
          </a:p>
          <a:p>
            <a:pPr marL="0" indent="0">
              <a:buNone/>
            </a:pPr>
            <a:r>
              <a:rPr dirty="0"/>
              <a:t>• Debug toggles and logging internals</a:t>
            </a:r>
          </a:p>
          <a:p>
            <a:pPr marL="0" indent="0">
              <a:buNone/>
            </a:pPr>
            <a:r>
              <a:rPr dirty="0"/>
              <a:t>• Temporary structures subject to frequent change</a:t>
            </a:r>
          </a:p>
          <a:p>
            <a:pPr marL="0" indent="0">
              <a:buNone/>
            </a:pPr>
            <a:r>
              <a:rPr dirty="0"/>
              <a:t>• Anything that forces callers to recompile on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Pattern: Canonical + Thin Wrappers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SPEC exposes convenient overloads</a:t>
            </a:r>
          </a:p>
          <a:p>
            <a:pPr marL="0" indent="0">
              <a:buNone/>
            </a:pPr>
            <a:r>
              <a:rPr dirty="0"/>
              <a:t>• BODY implements a canonical version</a:t>
            </a:r>
          </a:p>
          <a:p>
            <a:pPr marL="0" indent="0">
              <a:buNone/>
            </a:pPr>
            <a:r>
              <a:rPr dirty="0"/>
              <a:t>• Thin overloads delegate to the canonical implementation</a:t>
            </a:r>
          </a:p>
          <a:p>
            <a:pPr marL="0" indent="0">
              <a:buNone/>
            </a:pPr>
            <a:r>
              <a:rPr dirty="0"/>
              <a:t>• Enables evolution without breaking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Versioning &amp;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Provide version() returning semantic version string</a:t>
            </a:r>
          </a:p>
          <a:p>
            <a:pPr marL="0" indent="0">
              <a:buNone/>
            </a:pPr>
            <a:r>
              <a:rPr dirty="0"/>
              <a:t>• Provide </a:t>
            </a:r>
            <a:r>
              <a:rPr dirty="0" err="1"/>
              <a:t>calls_made</a:t>
            </a:r>
            <a:r>
              <a:rPr dirty="0"/>
              <a:t>(), </a:t>
            </a:r>
            <a:r>
              <a:rPr dirty="0" err="1"/>
              <a:t>last_init_time</a:t>
            </a:r>
            <a:r>
              <a:rPr dirty="0"/>
              <a:t>() as read‑only diagnostics</a:t>
            </a:r>
          </a:p>
          <a:p>
            <a:pPr marL="0" indent="0">
              <a:buNone/>
            </a:pPr>
            <a:r>
              <a:rPr dirty="0"/>
              <a:t>• Use constants for error codes; document them in SPEC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Allocate a unique code range for the package (e.g., −20700..−20799)</a:t>
            </a:r>
          </a:p>
          <a:p>
            <a:pPr marL="0" indent="0">
              <a:buNone/>
            </a:pPr>
            <a:r>
              <a:rPr dirty="0"/>
              <a:t>• Raise named exceptions mapped to these codes</a:t>
            </a:r>
          </a:p>
          <a:p>
            <a:pPr marL="0" indent="0">
              <a:buNone/>
            </a:pPr>
            <a:r>
              <a:rPr dirty="0"/>
              <a:t>• Keep messages actionable and stable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SPEC minimal? No public mutable variables?</a:t>
            </a:r>
          </a:p>
          <a:p>
            <a:pPr marL="0" indent="0">
              <a:buNone/>
            </a:pPr>
            <a:r>
              <a:rPr dirty="0"/>
              <a:t>• All inputs validated? Error contracts documented?</a:t>
            </a:r>
          </a:p>
          <a:p>
            <a:pPr marL="0" indent="0">
              <a:buNone/>
            </a:pPr>
            <a:r>
              <a:rPr dirty="0"/>
              <a:t>• DETERMINISTIC only for truly pure SQL functions?</a:t>
            </a:r>
          </a:p>
          <a:p>
            <a:pPr marL="0" indent="0">
              <a:buNone/>
            </a:pPr>
            <a:r>
              <a:rPr dirty="0"/>
              <a:t>• Named notation examples included in docs?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342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Session 056: Public Interface Declaration</vt:lpstr>
      <vt:lpstr>Objectives</vt:lpstr>
      <vt:lpstr>Principles of a Good SPEC</vt:lpstr>
      <vt:lpstr>What Belongs in SPEC</vt:lpstr>
      <vt:lpstr>What Stays Out of SPEC</vt:lpstr>
      <vt:lpstr>Design Pattern: Canonical + Thin Wrappers</vt:lpstr>
      <vt:lpstr>Versioning &amp; Diagnostics</vt:lpstr>
      <vt:lpstr>Error Policy</vt:lpstr>
      <vt:lpstr>Checklists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2025-11-12T05:04:30Z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2025-11-12T05:04:30Z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2ac3dde3-1045-4e54-b466-e06c785b2fc5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