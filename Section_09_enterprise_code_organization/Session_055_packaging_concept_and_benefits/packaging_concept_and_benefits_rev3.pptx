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055: Packaging Concept and Benefits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Designing stable package APIs (SPEC) and safe implementations (BODY)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Separate public contract (SPEC) from private logic (BODY)</a:t>
            </a:r>
          </a:p>
          <a:p>
            <a:pPr marL="0" indent="0">
              <a:buNone/>
            </a:pPr>
            <a:r>
              <a:rPr dirty="0"/>
              <a:t>• Encapsulate state and expose only getters/operations</a:t>
            </a:r>
          </a:p>
          <a:p>
            <a:pPr marL="0" indent="0">
              <a:buNone/>
            </a:pPr>
            <a:r>
              <a:rPr dirty="0"/>
              <a:t>• Use initialization sections safely (lightweight, idempotent)</a:t>
            </a:r>
          </a:p>
          <a:p>
            <a:pPr marL="0" indent="0">
              <a:buNone/>
            </a:pPr>
            <a:r>
              <a:rPr dirty="0"/>
              <a:t>• Apply overloading, constants, error codes, and diagnostics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Encapsulation: callers depend on the SPEC, not internals</a:t>
            </a:r>
          </a:p>
          <a:p>
            <a:pPr marL="0" indent="0">
              <a:buNone/>
            </a:pPr>
            <a:r>
              <a:rPr dirty="0"/>
              <a:t>• Stability: BODY changes usually don’t break dependents</a:t>
            </a:r>
          </a:p>
          <a:p>
            <a:pPr marL="0" indent="0">
              <a:buNone/>
            </a:pPr>
            <a:r>
              <a:rPr dirty="0"/>
              <a:t>• Organization: </a:t>
            </a:r>
            <a:r>
              <a:rPr dirty="0" err="1"/>
              <a:t>namespacing</a:t>
            </a:r>
            <a:r>
              <a:rPr dirty="0"/>
              <a:t> of related subprograms and types</a:t>
            </a:r>
          </a:p>
          <a:p>
            <a:pPr marL="0" indent="0">
              <a:buNone/>
            </a:pPr>
            <a:r>
              <a:rPr dirty="0"/>
              <a:t>• Optional session state for counters, caches (use with care)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 vs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SPEC (public): types, constants, signatures, minimal surface</a:t>
            </a:r>
          </a:p>
          <a:p>
            <a:pPr marL="0" indent="0">
              <a:buNone/>
            </a:pPr>
            <a:r>
              <a:rPr dirty="0"/>
              <a:t>BODY (private): helper routines, mutable state, algorithms</a:t>
            </a:r>
          </a:p>
          <a:p>
            <a:pPr marL="0" indent="0">
              <a:buNone/>
            </a:pPr>
            <a:r>
              <a:rPr dirty="0"/>
              <a:t>Initialization: runs once per session on first 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Keep SPEC small and stable; move evolving logic to BODY</a:t>
            </a:r>
          </a:p>
          <a:p>
            <a:pPr marL="0" indent="0">
              <a:buNone/>
            </a:pPr>
            <a:r>
              <a:rPr dirty="0"/>
              <a:t>• Avoid public mutable variables; expose getters/setters</a:t>
            </a:r>
          </a:p>
          <a:p>
            <a:pPr marL="0" indent="0">
              <a:buNone/>
            </a:pPr>
            <a:r>
              <a:rPr dirty="0"/>
              <a:t>• Use named error codes (RAISE_APPLICATION_ERROR ranges)</a:t>
            </a:r>
          </a:p>
          <a:p>
            <a:pPr marL="0" indent="0">
              <a:buNone/>
            </a:pPr>
            <a:r>
              <a:rPr dirty="0"/>
              <a:t>• Provide </a:t>
            </a:r>
            <a:r>
              <a:rPr dirty="0" err="1"/>
              <a:t>clear_state</a:t>
            </a:r>
            <a:r>
              <a:rPr dirty="0"/>
              <a:t>(), diagnostics (</a:t>
            </a:r>
            <a:r>
              <a:rPr dirty="0" err="1"/>
              <a:t>calls_made</a:t>
            </a:r>
            <a:r>
              <a:rPr dirty="0"/>
              <a:t>, </a:t>
            </a:r>
            <a:r>
              <a:rPr dirty="0" err="1"/>
              <a:t>last_init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Package variables are session-scoped</a:t>
            </a:r>
          </a:p>
          <a:p>
            <a:pPr marL="0" indent="0">
              <a:buNone/>
            </a:pPr>
            <a:r>
              <a:rPr dirty="0"/>
              <a:t>• Recompiling a package typically resets state on next use</a:t>
            </a:r>
          </a:p>
          <a:p>
            <a:pPr marL="0" indent="0">
              <a:buNone/>
            </a:pPr>
            <a:r>
              <a:rPr dirty="0"/>
              <a:t>• Consider PRAGMA SERIALLY_REUSABLE for per-call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Overload by datatype, argument count, parameter modes</a:t>
            </a:r>
          </a:p>
          <a:p>
            <a:pPr marL="0" indent="0">
              <a:buNone/>
            </a:pPr>
            <a:r>
              <a:rPr dirty="0"/>
              <a:t>• Document behavior of each overload in SPEC comments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Grant EXECUTE to consumers; optional synonyms</a:t>
            </a:r>
          </a:p>
          <a:p>
            <a:pPr marL="0" indent="0">
              <a:buNone/>
            </a:pPr>
            <a:r>
              <a:rPr dirty="0"/>
              <a:t>• Instrument with debug toggles gated by a BOOLEAN</a:t>
            </a:r>
          </a:p>
          <a:p>
            <a:pPr marL="0" indent="0">
              <a:buNone/>
            </a:pPr>
            <a:r>
              <a:rPr dirty="0"/>
              <a:t>• Unit test via public API; never rely on private routines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273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Session 055: Packaging Concept and Benefits</vt:lpstr>
      <vt:lpstr>Objectives</vt:lpstr>
      <vt:lpstr>Why Packages</vt:lpstr>
      <vt:lpstr>SPEC vs BODY</vt:lpstr>
      <vt:lpstr>Design Guidelines</vt:lpstr>
      <vt:lpstr>State Management</vt:lpstr>
      <vt:lpstr>Overloading</vt:lpstr>
      <vt:lpstr>Operational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2025-11-12T03:55:25Z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2025-11-12T03:55:24Z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3d55a6f5-1576-4896-8e7e-9ca36e1b480a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