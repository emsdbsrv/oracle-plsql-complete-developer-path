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058: Package State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Session-scoped variables, lifecycle, memory, and safe reset patterns in PL/SQL packages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session-scoped package state and lifecycle</a:t>
            </a:r>
          </a:p>
          <a:p>
            <a:pPr marL="0" indent="0">
              <a:buNone/>
            </a:pPr>
            <a:r>
              <a:rPr dirty="0"/>
              <a:t>• Track counters, timestamps, and user context safely</a:t>
            </a:r>
          </a:p>
          <a:p>
            <a:pPr marL="0" indent="0">
              <a:buNone/>
            </a:pPr>
            <a:r>
              <a:rPr dirty="0"/>
              <a:t>• Design reset and initialization patterns</a:t>
            </a:r>
          </a:p>
          <a:p>
            <a:pPr marL="0" indent="0">
              <a:buNone/>
            </a:pPr>
            <a:r>
              <a:rPr dirty="0"/>
              <a:t>• Avoid public mutable variables; expose controlled APIs</a:t>
            </a:r>
          </a:p>
          <a:p>
            <a:pPr marL="0" indent="0">
              <a:buNone/>
            </a:pPr>
            <a:r>
              <a:rPr dirty="0"/>
              <a:t>• Test state persistence across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Package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Variables in PACKAGE BODY live for the duration of a session</a:t>
            </a:r>
          </a:p>
          <a:p>
            <a:pPr marL="0" indent="0">
              <a:buNone/>
            </a:pPr>
            <a:r>
              <a:rPr dirty="0"/>
              <a:t>• Initialized once on first reference</a:t>
            </a:r>
          </a:p>
          <a:p>
            <a:pPr marL="0" indent="0">
              <a:buNone/>
            </a:pPr>
            <a:r>
              <a:rPr dirty="0"/>
              <a:t>• Persist values across calls until reset or session 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state private; expose getters/setters only if necessary</a:t>
            </a:r>
          </a:p>
          <a:p>
            <a:pPr marL="0" indent="0">
              <a:buNone/>
            </a:pPr>
            <a:r>
              <a:rPr dirty="0"/>
              <a:t>• Always provide clear reset routines</a:t>
            </a:r>
          </a:p>
          <a:p>
            <a:pPr marL="0" indent="0">
              <a:buNone/>
            </a:pPr>
            <a:r>
              <a:rPr dirty="0"/>
              <a:t>• Document initialization time and side effects</a:t>
            </a:r>
          </a:p>
          <a:p>
            <a:pPr marL="0" indent="0">
              <a:buNone/>
            </a:pPr>
            <a:r>
              <a:rPr dirty="0"/>
              <a:t>• Consider memory footprint and concurrency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Counters and metrics (calls, cache hits)</a:t>
            </a:r>
          </a:p>
          <a:p>
            <a:pPr marL="0" indent="0">
              <a:buNone/>
            </a:pPr>
            <a:r>
              <a:rPr dirty="0"/>
              <a:t>• Last operation user/time/context</a:t>
            </a:r>
          </a:p>
          <a:p>
            <a:pPr marL="0" indent="0">
              <a:buNone/>
            </a:pPr>
            <a:r>
              <a:rPr dirty="0"/>
              <a:t>• Soft caches (associative arrays)</a:t>
            </a:r>
          </a:p>
          <a:p>
            <a:pPr marL="0" indent="0">
              <a:buNone/>
            </a:pPr>
            <a:r>
              <a:rPr dirty="0"/>
              <a:t>• Feature flags via debug toggles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 values before and after operations</a:t>
            </a:r>
          </a:p>
          <a:p>
            <a:pPr marL="0" indent="0">
              <a:buNone/>
            </a:pPr>
            <a:r>
              <a:rPr dirty="0"/>
              <a:t>• Prove persistence across consecutive calls</a:t>
            </a:r>
          </a:p>
          <a:p>
            <a:pPr marL="0" indent="0">
              <a:buNone/>
            </a:pPr>
            <a:r>
              <a:rPr dirty="0"/>
              <a:t>• Verify reset semantics and re-initialization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Public variables directly mutable by callers</a:t>
            </a:r>
          </a:p>
          <a:p>
            <a:pPr marL="0" indent="0">
              <a:buNone/>
            </a:pPr>
            <a:r>
              <a:rPr dirty="0"/>
              <a:t>• Hidden state that changes SQL-visible function results</a:t>
            </a:r>
          </a:p>
          <a:p>
            <a:pPr marL="0" indent="0">
              <a:buNone/>
            </a:pPr>
            <a:r>
              <a:rPr dirty="0"/>
              <a:t>• No reset pathway or undocumented side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Session 058: Package State Management</vt:lpstr>
      <vt:lpstr>Objectives</vt:lpstr>
      <vt:lpstr>What Is Package State</vt:lpstr>
      <vt:lpstr>Design Rules</vt:lpstr>
      <vt:lpstr>State Patterns</vt:lpstr>
      <vt:lpstr>Testing State</vt:lpstr>
      <vt:lpstr>Anti-Patterns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2025-11-12T06:03:18Z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2025-11-12T06:03:18Z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3f1c48e8-e265-4b9a-8835-58808f8ee716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