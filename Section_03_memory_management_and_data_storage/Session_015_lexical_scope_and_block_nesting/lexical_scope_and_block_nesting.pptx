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015: Lexical Scope and Block Nesting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Understand lexical scope rules in PL/SQL</a:t>
            </a:r>
          </a:p>
          <a:p>
            <a:pPr marL="0" indent="0">
              <a:buNone/>
            </a:pPr>
            <a:r>
              <a:rPr dirty="0"/>
              <a:t>- Use nested blocks and variable shadowing correctly</a:t>
            </a:r>
          </a:p>
          <a:p>
            <a:pPr marL="0" indent="0">
              <a:buNone/>
            </a:pPr>
            <a:r>
              <a:rPr dirty="0"/>
              <a:t>- Control exception scope and propagation</a:t>
            </a:r>
          </a:p>
          <a:p>
            <a:pPr marL="0" indent="0">
              <a:buNone/>
            </a:pPr>
            <a:r>
              <a:rPr dirty="0"/>
              <a:t>- Define local procedures/functions inside blocks</a:t>
            </a:r>
          </a:p>
          <a:p>
            <a:pPr marL="0" indent="0">
              <a:buNone/>
            </a:pPr>
            <a:r>
              <a:rPr dirty="0"/>
              <a:t>- (Optional) Use AI tools to suggest refactoring of nested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Lexical Scope?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Variables are visible only within the block where they are declared</a:t>
            </a:r>
          </a:p>
          <a:p>
            <a:pPr marL="0" indent="0">
              <a:buNone/>
            </a:pPr>
            <a:r>
              <a:rPr dirty="0"/>
              <a:t>and any inner (nested) blocks, unless shadowed by a local declaration.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Block Structure Refresher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DECLARE  -- Declarations (variables, types, subprograms)</a:t>
            </a:r>
          </a:p>
          <a:p>
            <a:pPr marL="0" indent="0">
              <a:buNone/>
            </a:pPr>
            <a:r>
              <a:rPr dirty="0"/>
              <a:t>BEGIN    -- Executable statements</a:t>
            </a:r>
          </a:p>
          <a:p>
            <a:pPr marL="0" indent="0">
              <a:buNone/>
            </a:pPr>
            <a:r>
              <a:rPr dirty="0"/>
              <a:t>EXCEPTION-- Error handling</a:t>
            </a:r>
          </a:p>
          <a:p>
            <a:pPr marL="0" indent="0">
              <a:buNone/>
            </a:pPr>
            <a:r>
              <a:rPr dirty="0"/>
              <a:t>END;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 Shadowing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An inner block can declare a variable with the same name as an outer block.</a:t>
            </a:r>
          </a:p>
          <a:p>
            <a:pPr marL="0" indent="0">
              <a:buNone/>
            </a:pPr>
            <a:r>
              <a:rPr dirty="0"/>
              <a:t>The inner declaration hides the outer one within the inner block's scope.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Exception Propagation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Exceptions not handled in an inner block propagate to the enclosing block.</a:t>
            </a:r>
          </a:p>
          <a:p>
            <a:pPr marL="0" indent="0">
              <a:buNone/>
            </a:pPr>
            <a:r>
              <a:rPr dirty="0"/>
              <a:t>Handle locally to continue execution; otherwise let it bubble 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 Procedures/Functions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You can declare procedures/functions inside a block.</a:t>
            </a:r>
          </a:p>
          <a:p>
            <a:pPr marL="0" indent="0">
              <a:buNone/>
            </a:pPr>
            <a:r>
              <a:rPr dirty="0"/>
              <a:t>They can access variables from their enclosing scope.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Keep blocks small and purpose-driven</a:t>
            </a:r>
          </a:p>
          <a:p>
            <a:pPr marL="0" indent="0">
              <a:buNone/>
            </a:pPr>
            <a:r>
              <a:rPr dirty="0"/>
              <a:t>• Avoid shadowing unless it improves clarity</a:t>
            </a:r>
          </a:p>
          <a:p>
            <a:pPr marL="0" indent="0">
              <a:buNone/>
            </a:pPr>
            <a:r>
              <a:rPr dirty="0"/>
              <a:t>• Catch exceptions as close to the source as possible</a:t>
            </a:r>
          </a:p>
          <a:p>
            <a:pPr marL="0" indent="0">
              <a:buNone/>
            </a:pPr>
            <a:r>
              <a:rPr dirty="0"/>
              <a:t>• Use local subprograms for encapsulation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Lexical scope defines variable visibility.</a:t>
            </a:r>
          </a:p>
          <a:p>
            <a:pPr marL="0" indent="0">
              <a:buNone/>
            </a:pPr>
            <a:r>
              <a:rPr dirty="0"/>
              <a:t>Nested blocks enable modular code and controlled exception handling.</a:t>
            </a:r>
          </a:p>
          <a:p>
            <a:pPr marL="0" indent="0">
              <a:buNone/>
            </a:pPr>
            <a:r>
              <a:rPr dirty="0"/>
              <a:t>Next: Primitive and Complex Data Types (Session 016).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255</Words>
  <Application>Microsoft Office PowerPoint</Application>
  <PresentationFormat>On-screen Show (4:3)</PresentationFormat>
  <Paragraphs>34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Session 015: Lexical Scope and Block Nesting</vt:lpstr>
      <vt:lpstr>Session Objectives</vt:lpstr>
      <vt:lpstr>What is Lexical Scope?</vt:lpstr>
      <vt:lpstr>Block Structure Refresher</vt:lpstr>
      <vt:lpstr>Variable Shadowing</vt:lpstr>
      <vt:lpstr>Exception Propagation</vt:lpstr>
      <vt:lpstr>Local Procedures/Functions</vt:lpstr>
      <vt:lpstr>Best Practices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2025-11-06T04:27:16Z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2025-11-06T04:27:16Z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2d40934f-4ffd-4b49-b1ae-5218dea18eed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