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018: Constants and Literals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566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- Understand CONSTANT declaration syntax</a:t>
            </a:r>
          </a:p>
          <a:p>
            <a:pPr marL="0" indent="0">
              <a:buNone/>
            </a:pPr>
            <a:r>
              <a:rPr sz="2400" dirty="0"/>
              <a:t>- Use numeric, character, date, and </a:t>
            </a:r>
            <a:r>
              <a:rPr sz="2400" dirty="0" err="1"/>
              <a:t>boolean</a:t>
            </a:r>
            <a:r>
              <a:rPr sz="2400" dirty="0"/>
              <a:t> literals</a:t>
            </a:r>
          </a:p>
          <a:p>
            <a:pPr marL="0" indent="0">
              <a:buNone/>
            </a:pPr>
            <a:r>
              <a:rPr sz="2400" dirty="0"/>
              <a:t>- Apply %TYPE with CONSTANTs for schema-aligned typing</a:t>
            </a:r>
          </a:p>
          <a:p>
            <a:pPr marL="0" indent="0">
              <a:buNone/>
            </a:pPr>
            <a:r>
              <a:rPr sz="2400" dirty="0"/>
              <a:t>- Learn best practices: immutability, naming, and scope</a:t>
            </a:r>
          </a:p>
          <a:p>
            <a:pPr marL="0" indent="0">
              <a:buNone/>
            </a:pPr>
            <a:r>
              <a:rPr sz="2400" dirty="0"/>
              <a:t>- (Optional) Use AI to generate consistent code headers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CONSTANT Declaration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name CONSTANT datatype [NOT NULL] := expression;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Examples:</a:t>
            </a:r>
          </a:p>
          <a:p>
            <a:pPr marL="0" indent="0">
              <a:buNone/>
            </a:pPr>
            <a:r>
              <a:rPr dirty="0"/>
              <a:t>  </a:t>
            </a:r>
            <a:r>
              <a:rPr dirty="0" err="1"/>
              <a:t>c_tax_rate</a:t>
            </a:r>
            <a:r>
              <a:rPr dirty="0"/>
              <a:t> CONSTANT NUMBER := 0.18;</a:t>
            </a:r>
          </a:p>
          <a:p>
            <a:pPr marL="0" indent="0">
              <a:buNone/>
            </a:pPr>
            <a:r>
              <a:rPr dirty="0"/>
              <a:t>  </a:t>
            </a:r>
            <a:r>
              <a:rPr dirty="0" err="1"/>
              <a:t>c_pi</a:t>
            </a:r>
            <a:r>
              <a:rPr dirty="0"/>
              <a:t>       CONSTANT NUMBER := 3.14159;</a:t>
            </a:r>
          </a:p>
          <a:p>
            <a:pPr marL="0" indent="0">
              <a:buNone/>
            </a:pPr>
            <a:r>
              <a:rPr dirty="0"/>
              <a:t>  </a:t>
            </a:r>
            <a:r>
              <a:rPr dirty="0" err="1"/>
              <a:t>c_today</a:t>
            </a:r>
            <a:r>
              <a:rPr dirty="0"/>
              <a:t>    CONSTANT DATE   := SYSDATE;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Literal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Numeric: 42, 3.14, -1</a:t>
            </a:r>
          </a:p>
          <a:p>
            <a:pPr marL="0" indent="0">
              <a:buNone/>
            </a:pPr>
            <a:r>
              <a:rPr dirty="0"/>
              <a:t>• Character: 'Hello', q'[John's bike]'</a:t>
            </a:r>
          </a:p>
          <a:p>
            <a:pPr marL="0" indent="0">
              <a:buNone/>
            </a:pPr>
            <a:r>
              <a:rPr dirty="0"/>
              <a:t>• Date/Time: DATE '2025-11-06', TIMESTAMP '2025-11-06 17:30:00'</a:t>
            </a:r>
          </a:p>
          <a:p>
            <a:pPr marL="0" indent="0">
              <a:buNone/>
            </a:pPr>
            <a:r>
              <a:rPr dirty="0"/>
              <a:t>• Boolean: TRUE, FALSE, NULL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Use uppercase names for constants (C_RATE)</a:t>
            </a:r>
          </a:p>
          <a:p>
            <a:pPr marL="0" indent="0">
              <a:buNone/>
            </a:pPr>
            <a:r>
              <a:rPr dirty="0"/>
              <a:t>• Keep constants close to use-site (narrow scope)</a:t>
            </a:r>
          </a:p>
          <a:p>
            <a:pPr marL="0" indent="0">
              <a:buNone/>
            </a:pPr>
            <a:r>
              <a:rPr dirty="0"/>
              <a:t>• Prefer %TYPE for schema consistency</a:t>
            </a:r>
          </a:p>
          <a:p>
            <a:pPr marL="0" indent="0">
              <a:buNone/>
            </a:pPr>
            <a:r>
              <a:rPr dirty="0"/>
              <a:t>• Avoid magic numbers—replace with named constants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%TYPE with CONSTANTS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/>
              <a:t>c_max_salary</a:t>
            </a:r>
            <a:r>
              <a:rPr dirty="0"/>
              <a:t> CONSTANT </a:t>
            </a:r>
            <a:r>
              <a:rPr dirty="0" err="1"/>
              <a:t>employees.salary%TYPE</a:t>
            </a:r>
            <a:r>
              <a:rPr dirty="0"/>
              <a:t> := 200000;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1) Basic constants</a:t>
            </a:r>
          </a:p>
          <a:p>
            <a:pPr marL="0" indent="0">
              <a:buNone/>
            </a:pPr>
            <a:r>
              <a:rPr dirty="0"/>
              <a:t>2) Character/date/</a:t>
            </a:r>
            <a:r>
              <a:rPr dirty="0" err="1"/>
              <a:t>boolean</a:t>
            </a:r>
            <a:r>
              <a:rPr dirty="0"/>
              <a:t> literals</a:t>
            </a:r>
          </a:p>
          <a:p>
            <a:pPr marL="0" indent="0">
              <a:buNone/>
            </a:pPr>
            <a:r>
              <a:rPr dirty="0"/>
              <a:t>3) %TYPE with CONSTANT</a:t>
            </a:r>
          </a:p>
          <a:p>
            <a:pPr marL="0" indent="0">
              <a:buNone/>
            </a:pPr>
            <a:r>
              <a:rPr dirty="0"/>
              <a:t>4) Derived constants</a:t>
            </a:r>
          </a:p>
          <a:p>
            <a:pPr marL="0" indent="0">
              <a:buNone/>
            </a:pPr>
            <a:r>
              <a:rPr dirty="0"/>
              <a:t>5) Scoped constants (nested blocks)</a:t>
            </a:r>
          </a:p>
          <a:p>
            <a:pPr marL="0" indent="0">
              <a:buNone/>
            </a:pPr>
            <a:r>
              <a:rPr dirty="0"/>
              <a:t>6) Quoted string literal syntax (q'[ ]')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 constants to express intent and prevent accidental changes.</a:t>
            </a:r>
          </a:p>
          <a:p>
            <a:r>
              <a:rPr dirty="0"/>
              <a:t>Leverage literals and %TYPE for clarity and correctness.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267</Words>
  <Application>Microsoft Office PowerPoint</Application>
  <PresentationFormat>On-screen Show (4:3)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Session 018: Constants and Literals</vt:lpstr>
      <vt:lpstr>Session Objectives</vt:lpstr>
      <vt:lpstr>CONSTANT Declaration Syntax</vt:lpstr>
      <vt:lpstr>Literal Types</vt:lpstr>
      <vt:lpstr>Best Practices</vt:lpstr>
      <vt:lpstr>%TYPE with CONSTANTS</vt:lpstr>
      <vt:lpstr>Examples Overview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2025-11-06T08:08:37Z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2025-11-06T08:07:51Z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2294720b-5a5b-4d04-ad3e-91835bab3880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