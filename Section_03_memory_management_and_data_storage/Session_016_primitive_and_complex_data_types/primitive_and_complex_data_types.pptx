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016: Primitive and Complex 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896" y="1252728"/>
            <a:ext cx="8375904" cy="48734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- Understand PL/SQL scalar (primitive) and composite data types</a:t>
            </a:r>
          </a:p>
          <a:p>
            <a:pPr marL="0" indent="0">
              <a:buNone/>
            </a:pPr>
            <a:r>
              <a:rPr dirty="0"/>
              <a:t>- Declare and use NUMBER, VARCHAR2, DATE, BOOLEAN variables</a:t>
            </a:r>
          </a:p>
          <a:p>
            <a:pPr marL="0" indent="0">
              <a:buNone/>
            </a:pPr>
            <a:r>
              <a:rPr dirty="0"/>
              <a:t>- Use RECORD and TABLE types for structured data</a:t>
            </a:r>
          </a:p>
          <a:p>
            <a:pPr marL="0" indent="0">
              <a:buNone/>
            </a:pPr>
            <a:r>
              <a:rPr dirty="0"/>
              <a:t>- Apply %TYPE and %ROWTYPE for variable consistency</a:t>
            </a:r>
          </a:p>
          <a:p>
            <a:pPr marL="0" indent="0">
              <a:buNone/>
            </a:pPr>
            <a:r>
              <a:rPr dirty="0"/>
              <a:t>- (Optional) Use AI to suggest data type optimizations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Scalar Types – Single values (NUMBER, VARCHAR2, DATE, BOOLEAN)</a:t>
            </a:r>
          </a:p>
          <a:p>
            <a:pPr marL="0" indent="0">
              <a:buNone/>
            </a:pPr>
            <a:r>
              <a:rPr dirty="0"/>
              <a:t>• Composite Types – Collections or grouped structures (RECORD, TABLE, VARRAY)</a:t>
            </a:r>
          </a:p>
          <a:p>
            <a:pPr marL="0" indent="0">
              <a:buNone/>
            </a:pPr>
            <a:r>
              <a:rPr dirty="0"/>
              <a:t>• Reference Types – Pointers to data (REF CURSOR)</a:t>
            </a:r>
          </a:p>
          <a:p>
            <a:pPr marL="0" indent="0">
              <a:buNone/>
            </a:pPr>
            <a:r>
              <a:rPr dirty="0"/>
              <a:t>• LOB Types – Store large objects (BLOB, CLOB, NCLOB)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Primitive (Scalar)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NUMBER – stores numeric values</a:t>
            </a:r>
          </a:p>
          <a:p>
            <a:pPr marL="0" indent="0">
              <a:buNone/>
            </a:pPr>
            <a:r>
              <a:rPr dirty="0"/>
              <a:t>• VARCHAR2(n) – variable-length character strings</a:t>
            </a:r>
          </a:p>
          <a:p>
            <a:pPr marL="0" indent="0">
              <a:buNone/>
            </a:pPr>
            <a:r>
              <a:rPr dirty="0"/>
              <a:t>• DATE – stores date and time</a:t>
            </a:r>
          </a:p>
          <a:p>
            <a:pPr marL="0" indent="0">
              <a:buNone/>
            </a:pPr>
            <a:r>
              <a:rPr dirty="0"/>
              <a:t>• BOOLEAN – TRUE/FALSE/NULL logical values</a:t>
            </a:r>
          </a:p>
          <a:p>
            <a:pPr marL="0" indent="0">
              <a:buNone/>
            </a:pPr>
            <a:r>
              <a:rPr dirty="0"/>
              <a:t>• CHAR(n) – fixed-length character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RECORD – stores multiple fields of different data types</a:t>
            </a:r>
          </a:p>
          <a:p>
            <a:pPr marL="0" indent="0">
              <a:buNone/>
            </a:pPr>
            <a:r>
              <a:rPr dirty="0"/>
              <a:t>• TABLE – index-by or associative arrays (key-value pairs)</a:t>
            </a:r>
          </a:p>
          <a:p>
            <a:pPr marL="0" indent="0">
              <a:buNone/>
            </a:pPr>
            <a:r>
              <a:rPr dirty="0"/>
              <a:t>• VARRAY – bounded arrays with a defined maximum size</a:t>
            </a:r>
          </a:p>
          <a:p>
            <a:pPr marL="0" indent="0">
              <a:buNone/>
            </a:pPr>
            <a:r>
              <a:rPr dirty="0"/>
              <a:t>• Nested RECORDs – RECORDs containing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%TYPE and %ROWTYPE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%TYPE → match a variable's type to a column or another variable</a:t>
            </a:r>
          </a:p>
          <a:p>
            <a:pPr marL="0" indent="0">
              <a:buNone/>
            </a:pPr>
            <a:r>
              <a:rPr dirty="0"/>
              <a:t>• %ROWTYPE → declare a record matching an entire table row</a:t>
            </a:r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 err="1"/>
              <a:t>v_sal</a:t>
            </a:r>
            <a:r>
              <a:rPr dirty="0"/>
              <a:t> </a:t>
            </a:r>
            <a:r>
              <a:rPr dirty="0" err="1"/>
              <a:t>employees.salary%TYPE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 err="1"/>
              <a:t>v_emp</a:t>
            </a:r>
            <a:r>
              <a:rPr dirty="0"/>
              <a:t> </a:t>
            </a:r>
            <a:r>
              <a:rPr dirty="0" err="1"/>
              <a:t>employees%ROWTYPE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NUMBER – store quantities or salaries</a:t>
            </a:r>
          </a:p>
          <a:p>
            <a:pPr marL="0" indent="0">
              <a:buNone/>
            </a:pPr>
            <a:r>
              <a:rPr dirty="0"/>
              <a:t>• RECORD – hold employee data (ID, name, salary)</a:t>
            </a:r>
          </a:p>
          <a:p>
            <a:pPr marL="0" indent="0">
              <a:buNone/>
            </a:pPr>
            <a:r>
              <a:rPr dirty="0"/>
              <a:t>• TABLE – cache lookup values in memory</a:t>
            </a:r>
          </a:p>
          <a:p>
            <a:pPr marL="0" indent="0">
              <a:buNone/>
            </a:pPr>
            <a:r>
              <a:rPr dirty="0"/>
              <a:t>• VARRAY – store fixed-size set like days of week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%TYPE for consistency with database schema</a:t>
            </a:r>
          </a:p>
          <a:p>
            <a:pPr marL="0" indent="0">
              <a:buNone/>
            </a:pPr>
            <a:r>
              <a:rPr dirty="0"/>
              <a:t>• Initialize variables properly before using</a:t>
            </a:r>
          </a:p>
          <a:p>
            <a:pPr marL="0" indent="0">
              <a:buNone/>
            </a:pPr>
            <a:r>
              <a:rPr dirty="0"/>
              <a:t>• Prefer RECORDs for structured data manipulation</a:t>
            </a:r>
          </a:p>
          <a:p>
            <a:pPr marL="0" indent="0">
              <a:buNone/>
            </a:pPr>
            <a:r>
              <a:rPr dirty="0"/>
              <a:t>• Use VARRAY or TABLE when data volume is predictable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 Data Type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assistants can suggest optimal data types</a:t>
            </a:r>
          </a:p>
          <a:p>
            <a:r>
              <a:rPr dirty="0"/>
              <a:t>and warn about precision or overflow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Primitive types handle simple values.</a:t>
            </a:r>
          </a:p>
          <a:p>
            <a:r>
              <a:t>Composite types like RECORD and TABLE structure complex data.</a:t>
            </a:r>
          </a:p>
          <a:p>
            <a:r>
              <a:t>Next: Implicit and Explicit Conversions (Session 017).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391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016: Primitive and Complex Data Types</vt:lpstr>
      <vt:lpstr>Session Objectives</vt:lpstr>
      <vt:lpstr>Data Type Categories</vt:lpstr>
      <vt:lpstr>Primitive (Scalar) Data Types</vt:lpstr>
      <vt:lpstr>Composite Data Types</vt:lpstr>
      <vt:lpstr>Using %TYPE and %ROWTYPE</vt:lpstr>
      <vt:lpstr>Example Use Cases</vt:lpstr>
      <vt:lpstr>Best Practices</vt:lpstr>
      <vt:lpstr>Optional: AI Data Type Optimization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2025-11-06T04:34:10Z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2025-11-06T04:34:10Z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1ea943f0-dcce-41b9-a361-072744cdcee0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